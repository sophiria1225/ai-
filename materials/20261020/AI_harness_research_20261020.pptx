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AIハーネスの実行制御を検証する</a:t>
            </a:r>
          </a:p>
          <a:p/>
          <a:p>
            <a:r>
              <a:t>2026年10月13日の引き継ぎに従い、総トークン削減を品質条件の下で検証する。本資料は実験P4までの区切り。新手法の有効性を実証した論文ではない。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測れる基盤はできた。再編の利益はこれから確かめる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仕事全体の整合性を、モデルの外側で支える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品質を条件に、仕事全体の総トークンを減らす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現象を観測してから、再編と選択器を作る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1つのモデルを、単一または固定2担当で共有する</a:t>
            </a:r>
          </a:p>
          <a:p/>
          <a:p>
            <a:r>
              <a:t>mini-swe-agentの固定ソースへ共通モデル・環境・計測を接続。固定2担当は工程役割で、双方が全作業ツリーを変更できる。モデルは同じ1スロットで逐次実行。評価専用の追加テストは成果物凍結後の別環境だけへ入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実行中の状態から、次の対応を選ぶハーネスへ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情報を整理する効果と、実行単位を変える効果を分ける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大型モデルを1つ共有し、担当ごとの履歴を切り替える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モデルの大きさより、必要な入力長で測定できること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実行基盤の検証から、構成差の観察へ進んだ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モデル・ツール・総予算をそろえ、工程分担を比べた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総トークンは近いが、全件が予算停止だった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論理トークンが近くても、実時間は大きく違った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解けない原因を、分担や受け渡しのせいにしない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正解の変更箇所を使わず、公開要求から候補を選ぶ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未修正は落ち、参照修正は通ることを先に確かめた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YAML処理の複数の条件を、単一方式でまず観察する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調査から再現確認へ進んだが、修正には届かなかった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入力の繰り返しが総トークンの大半を占めた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分かったことと、原因として未確認のこと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「動的に担当を変える」だけでは、既に研究がある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分担の観察 → 同一状態の対照 → 必要なら自動選択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2027年夏の初回投稿を目標に、段階ごとに判断する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どの状態に、どの構成が必要かを説明できる研究へ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P3の4試行を比較するためのデータ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固定したものと、原記録のたどり方</a:t>
            </a:r>
          </a:p>
          <a:p/>
          <a:p>
            <a:r>
              <a:t>この資料は少数の開発観察の報告。グラフの元データ、条件差、未実証事項は末尾の出典と資料READMEを参照。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数値・図表・判断の出典</a:t>
            </a:r>
          </a:p>
          <a:p/>
          <a:p>
            <a:r>
              <a:t>S1 研究の目的・評価の基準: https://github.com/sophiria1225/AI-/blob/main/docs/research_brief.md</a:t>
            </a:r>
          </a:p>
          <a:p>
            <a:r>
              <a:t>S2 P3比較の実測と考察: https://github.com/sophiria1225/AI-/blob/main/docs/P3_findings.md</a:t>
            </a:r>
          </a:p>
          <a:p>
            <a:r>
              <a:t>S3–S4 P4実測・公開操作の分析: https://github.com/sophiria1225/AI-/blob/main/docs/P4_findings.md</a:t>
            </a:r>
          </a:p>
          <a:p>
            <a:r>
              <a:t>S5–S7 作業ボード・実装・分岐計画: https://github.com/sophiria1225/AI-/blob/main/docs/task_board.md</a:t>
            </a:r>
          </a:p>
          <a:p>
            <a:r>
              <a:t>S8–S10 品質条件・モデル選定・以前の実測: https://github.com/sophiria1225/AI-/blob/main/docs/model_selection.md</a:t>
            </a:r>
          </a:p>
          <a:p>
            <a:r>
              <a:t>S11–S12 主課題選定と評価器の校正: https://github.com/sophiria1225/AI-/blob/main/docs/main_task_feasibility.md</a:t>
            </a:r>
          </a:p>
          <a:p>
            <a:r>
              <a:t>S13–S14 先行研究比較と固定計画: https://github.com/sophiria1225/AI-/blob/main/docs/related_work_matrix.md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新規性の確認に使っている主な文献</a:t>
            </a:r>
          </a:p>
          <a:p/>
          <a:p>
            <a:r>
              <a:t>L1: MaAS: Multi-agent Architecture Search via Agentic Supernet</a:t>
            </a:r>
          </a:p>
          <a:p>
            <a:r>
              <a:t>ICML 2025 / PMLR 267</a:t>
            </a:r>
          </a:p>
          <a:p>
            <a:r>
              <a:t>https://proceedings.mlr.press/v267/zhang25bi.html</a:t>
            </a:r>
          </a:p>
          <a:p/>
          <a:p>
            <a:r>
              <a:t>L2: TDAG: Dynamic Task Decomposition and Agent Generation</a:t>
            </a:r>
          </a:p>
          <a:p>
            <a:r>
              <a:t>Neural Networks 185, 107200 (2025)</a:t>
            </a:r>
          </a:p>
          <a:p>
            <a:r>
              <a:t>https://doi.org/10.1016/j.neunet.2025.107200</a:t>
            </a:r>
          </a:p>
          <a:p/>
          <a:p>
            <a:r>
              <a:t>L3: Flow: Modularized Agentic Workflow Automation</a:t>
            </a:r>
          </a:p>
          <a:p>
            <a:r>
              <a:t>ICLR 2025</a:t>
            </a:r>
          </a:p>
          <a:p>
            <a:r>
              <a:t>https://proceedings.iclr.cc/paper_files/paper/2025/file/ba84da6921f3040b74ee163aa7451f53-Paper-Conference.pdf</a:t>
            </a:r>
          </a:p>
          <a:p/>
          <a:p>
            <a:r>
              <a:t>L4: Multi-Agent Collaboration via Evolving Orchestration</a:t>
            </a:r>
          </a:p>
          <a:p>
            <a:r>
              <a:t>NeurIPS 2025</a:t>
            </a:r>
          </a:p>
          <a:p>
            <a:r>
              <a:t>https://proceedings.neurips.cc/paper_files/paper/2025/hash/f1320d2e2842169c6fc89dcbd80e94d0-Abstract-Conference.html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ophiria1225/AI-/blob/main/docs/research_brief.md" TargetMode="External"/><Relationship Id="rId3" Type="http://schemas.openxmlformats.org/officeDocument/2006/relationships/hyperlink" Target="https://github.com/sophiria1225/AI-/blob/main/docs/P3_findings.md" TargetMode="External"/><Relationship Id="rId4" Type="http://schemas.openxmlformats.org/officeDocument/2006/relationships/hyperlink" Target="https://github.com/sophiria1225/AI-/blob/main/docs/P4_findings.md" TargetMode="External"/><Relationship Id="rId5" Type="http://schemas.openxmlformats.org/officeDocument/2006/relationships/hyperlink" Target="https://github.com/sophiria1225/AI-/blob/main/docs/task_board.md" TargetMode="External"/><Relationship Id="rId6" Type="http://schemas.openxmlformats.org/officeDocument/2006/relationships/hyperlink" Target="https://github.com/sophiria1225/AI-/blob/main/docs/model_selection.md" TargetMode="External"/><Relationship Id="rId7" Type="http://schemas.openxmlformats.org/officeDocument/2006/relationships/hyperlink" Target="https://github.com/sophiria1225/AI-/blob/main/docs/main_task_feasibility.md" TargetMode="External"/><Relationship Id="rId8" Type="http://schemas.openxmlformats.org/officeDocument/2006/relationships/hyperlink" Target="https://github.com/sophiria1225/AI-/blob/main/docs/related_work_matrix.md" TargetMode="External"/><Relationship Id="rId9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roceedings.mlr.press/v267/zhang25bi.html" TargetMode="External"/><Relationship Id="rId3" Type="http://schemas.openxmlformats.org/officeDocument/2006/relationships/hyperlink" Target="https://doi.org/10.1016/j.neunet.2025.107200" TargetMode="External"/><Relationship Id="rId4" Type="http://schemas.openxmlformats.org/officeDocument/2006/relationships/hyperlink" Target="https://proceedings.iclr.cc/paper_files/paper/2025/file/ba84da6921f3040b74ee163aa7451f53-Paper-Conference.pdf" TargetMode="External"/><Relationship Id="rId5" Type="http://schemas.openxmlformats.org/officeDocument/2006/relationships/hyperlink" Target="https://proceedings.neurips.cc/paper_files/paper/2025/hash/f1320d2e2842169c6fc89dcbd80e94d0-Abstract-Conference.html" TargetMode="External"/><Relationship Id="rId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RESEARCH PROGRESS  /  2026.10.20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AIハーネスの実行制御を検証する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対象リポジトリ：sophiria1225/AI-｜到達点：P4_PRO_01の独立評価完了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778000"/>
            <a:ext cx="10795000" cy="1346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6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品質を保ちながら、仕事の完了までに使う</a:t>
            </a:r>
          </a:p>
          <a:p>
            <a:pPr>
              <a:lnSpc>
                <a:spcPts val="4356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全担当の総トークンを減らす。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479800"/>
            <a:ext cx="10477500" cy="1041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分担・情報共有・作業状態の引き継ぎを、</a:t>
            </a:r>
          </a:p>
          <a:p>
            <a:pPr>
              <a:lnSpc>
                <a:spcPts val="3168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同じモデルと計算予算でどう設計するか。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4953000"/>
            <a:ext cx="3556000" cy="111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5105400"/>
            <a:ext cx="3175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今回の報告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" y="5575300"/>
            <a:ext cx="3175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目的・構成・実測・考察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0" y="4953000"/>
            <a:ext cx="3556000" cy="111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8500" y="5105400"/>
            <a:ext cx="3175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実験の区切り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8500" y="5575300"/>
            <a:ext cx="3175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基準方式 + Ansible初回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0" y="4953000"/>
            <a:ext cx="3556000" cy="111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8500" y="5105400"/>
            <a:ext cx="3175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研究期限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8500" y="5575300"/>
            <a:ext cx="3175000" cy="368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2027年12月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01 / 現在地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測れる基盤はできた。再編の利益はこれから確かめる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実装・運用の成果と、学術的に証明できたことを分ける。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S1–S4：研究仕様、P3/P4測定・考察。各課題・方式は1試行。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35200"/>
            <a:ext cx="3556000" cy="327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235200"/>
            <a:ext cx="50800" cy="32766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4384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できたこと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3225800"/>
            <a:ext cx="3098800" cy="2108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大型モデルの実機運用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単一／固定2担当の実行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全呼び出しの費用記録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最終成果物の独立評価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0" y="2235200"/>
            <a:ext cx="3556000" cy="327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8000" y="2235200"/>
            <a:ext cx="50800" cy="32766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6600" y="24384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今回観測したこと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6600" y="3225800"/>
            <a:ext cx="3098800" cy="2108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P3：2課題 × 2方式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同じ課題で合格／未解決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P4：調査は進んだが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修正パッチを作れず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0" y="2235200"/>
            <a:ext cx="3556000" cy="3276600"/>
          </a:xfrm>
          <a:prstGeom prst="rect">
            <a:avLst/>
          </a:prstGeom>
          <a:solidFill>
            <a:srgbClr val="FB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0" y="2235200"/>
            <a:ext cx="50800" cy="3276600"/>
          </a:xfrm>
          <a:prstGeom prst="rect">
            <a:avLst/>
          </a:prstGeom>
          <a:solidFill>
            <a:srgbClr val="B6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6600" y="24384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まだ言えないこと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600" y="3225800"/>
            <a:ext cx="3098800" cy="2108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品質を保った費用削減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分担や集約の一般的優位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新規性の確定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別領域への一般化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次の一歩：構成を変える価値がある局面を、強い基準方式から探す。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02 / 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仕事全体の整合性を、モデルの外側で支える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対象は一回の回答より長い、調査・実装・検査・修正の連続。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S1。下図は問題設定の説明であり、観測済みの因果関係ではない。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336800"/>
            <a:ext cx="26035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2463800"/>
            <a:ext cx="22987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要求を読む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895600"/>
            <a:ext cx="22987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資料・仕様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11500" y="2971800"/>
            <a:ext cx="2159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365500" y="2336800"/>
            <a:ext cx="26035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7900" y="2463800"/>
            <a:ext cx="22987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調べて決める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7900" y="2895600"/>
            <a:ext cx="22987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関連コード・条件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69000" y="2971800"/>
            <a:ext cx="2159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23000" y="2336800"/>
            <a:ext cx="26035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5400" y="2463800"/>
            <a:ext cx="22987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変更する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5400" y="2895600"/>
            <a:ext cx="22987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成果物・状態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26500" y="2971800"/>
            <a:ext cx="2159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080500" y="2336800"/>
            <a:ext cx="26035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2900" y="2463800"/>
            <a:ext cx="22987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検査して戻す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2900" y="2895600"/>
            <a:ext cx="22987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結果・未解決事項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312400" y="3632200"/>
            <a:ext cx="0" cy="4318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597400" y="4064000"/>
            <a:ext cx="57150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597400" y="3632200"/>
            <a:ext cx="0" cy="4318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08000" y="4432300"/>
            <a:ext cx="5461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8000" y="4432300"/>
            <a:ext cx="50800" cy="17145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600" y="4635500"/>
            <a:ext cx="5003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分担で扱う範囲を小さくする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600" y="5422900"/>
            <a:ext cx="500380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担当ごとの調査・判断・文脈を整理する。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23000" y="4432300"/>
            <a:ext cx="5461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23000" y="4432300"/>
            <a:ext cx="50800" cy="17145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51600" y="4635500"/>
            <a:ext cx="5003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分担後にも整合が必要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1600" y="5422900"/>
            <a:ext cx="500380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前提の共有、変更の往復、履歴の再入力。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03 / 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品質を条件に、仕事全体の総トークンを減らす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節約だけを目的にせず、未完了や失敗も含めて評価する。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S1・S8：研究仕様と確認評価の検討。式は目標の定式化で、達成済みではない。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22500"/>
            <a:ext cx="11176000" cy="13970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413000"/>
            <a:ext cx="105410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8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最小化：E [ C全担当・全制御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098800"/>
            <a:ext cx="10541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3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制約：品質が基準方式から許容差 δ を超えて下がらない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3759200"/>
            <a:ext cx="2082800" cy="4445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3886200"/>
            <a:ext cx="18415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測る量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3500" y="3759200"/>
            <a:ext cx="9067800" cy="4445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0500" y="3886200"/>
            <a:ext cx="88265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今回の定義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000" y="4216400"/>
            <a:ext cx="2082800" cy="44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343400"/>
            <a:ext cx="18415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費用 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3500" y="4216400"/>
            <a:ext cx="9067800" cy="44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30500" y="4343400"/>
            <a:ext cx="88265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すべての入力＋出力。キャッシュ対象の入力も含む。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000" y="4673600"/>
            <a:ext cx="2082800" cy="4445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4800600"/>
            <a:ext cx="18415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品質 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3500" y="4673600"/>
            <a:ext cx="9067800" cy="4445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30500" y="4800600"/>
            <a:ext cx="88265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凍結した最終成果物の独立評価。未完了は成功にしない。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000" y="5130800"/>
            <a:ext cx="2082800" cy="44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000" y="5257800"/>
            <a:ext cx="18415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補助指標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3500" y="5130800"/>
            <a:ext cx="9067800" cy="44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30500" y="5257800"/>
            <a:ext cx="88265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実時間、メモリ、往復修正、移管費用、不要な変更。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品質許容差 δ・必要課題数・確認用課題は未確定。非有意差は同等性ではない。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04 / 研究の順序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現象を観測してから、再編と選択器を作る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自動集約を先に完成させると、本当に必要な機構を見失う。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S1・S5：研究仕様と作業ボード。青緑＝実施、黄＝未実証／今後。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349500"/>
            <a:ext cx="2603500" cy="28956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200" y="2552700"/>
            <a:ext cx="2197100" cy="622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24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3302000"/>
            <a:ext cx="21971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基盤・評価器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3911600"/>
            <a:ext cx="2197100" cy="774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状態／費用／成果物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4787900"/>
            <a:ext cx="21971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実施済み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11500" y="3771900"/>
            <a:ext cx="215900" cy="0"/>
          </a:xfrm>
          <a:prstGeom prst="line">
            <a:avLst/>
          </a:prstGeom>
          <a:ln w="2286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365500" y="2349500"/>
            <a:ext cx="2603500" cy="28956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8700" y="2552700"/>
            <a:ext cx="2197100" cy="622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24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8700" y="3302000"/>
            <a:ext cx="21971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単一・固定分担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8700" y="3911600"/>
            <a:ext cx="2197100" cy="774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失敗と調整の観察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8700" y="4787900"/>
            <a:ext cx="21971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実施中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69000" y="3771900"/>
            <a:ext cx="215900" cy="0"/>
          </a:xfrm>
          <a:prstGeom prst="line">
            <a:avLst/>
          </a:prstGeom>
          <a:ln w="2286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223000" y="2349500"/>
            <a:ext cx="2603500" cy="2895600"/>
          </a:xfrm>
          <a:prstGeom prst="rect">
            <a:avLst/>
          </a:prstGeom>
          <a:solidFill>
            <a:srgbClr val="FBF1DF"/>
          </a:solidFill>
          <a:ln w="15240">
            <a:solidFill>
              <a:srgbClr val="B67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6200" y="2552700"/>
            <a:ext cx="2197100" cy="622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24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3302000"/>
            <a:ext cx="21971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同一状態の分岐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6200" y="3911600"/>
            <a:ext cx="2197100" cy="774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整理／調整／移管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4787900"/>
            <a:ext cx="21971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これから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6500" y="3771900"/>
            <a:ext cx="215900" cy="0"/>
          </a:xfrm>
          <a:prstGeom prst="line">
            <a:avLst/>
          </a:prstGeom>
          <a:ln w="22860">
            <a:solidFill>
              <a:srgbClr val="B6792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80500" y="2349500"/>
            <a:ext cx="2603500" cy="2895600"/>
          </a:xfrm>
          <a:prstGeom prst="rect">
            <a:avLst/>
          </a:prstGeom>
          <a:solidFill>
            <a:srgbClr val="FBF1DF"/>
          </a:solidFill>
          <a:ln w="15240">
            <a:solidFill>
              <a:srgbClr val="B67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3700" y="2552700"/>
            <a:ext cx="2197100" cy="622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24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3700" y="3302000"/>
            <a:ext cx="21971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対応の自動選択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3700" y="3911600"/>
            <a:ext cx="2197100" cy="774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利益と費用を予測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3700" y="4787900"/>
            <a:ext cx="21971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効果があれば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今は「構成比較に適した課題と、切り分け可能な失敗」を確認している。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05 / 実装済みアーキテクチャ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1つのモデルを、単一または固定2担当で共有する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実験条件・全体予算・成果物の版を、共通の実行器で管理する。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S6：run_fixed_comparison.py / run_pro_pilot.py / artifact_capture.py / experiment_state.py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09800"/>
            <a:ext cx="2413000" cy="10922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2336800"/>
            <a:ext cx="2108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固定した公開入力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768600"/>
            <a:ext cx="2108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要求・コード・予算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30600" y="2209800"/>
            <a:ext cx="4191000" cy="10922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3000" y="2336800"/>
            <a:ext cx="3886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共通の実行制御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3000" y="2768600"/>
            <a:ext cx="3886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単一  または  実装役 ↔ 検証役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1200" y="2209800"/>
            <a:ext cx="3352800" cy="10922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3600" y="2336800"/>
            <a:ext cx="3048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ローカルLLM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3600" y="2768600"/>
            <a:ext cx="3048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MiniMax M3 IQ4 / 1スロット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1000" y="2755900"/>
            <a:ext cx="609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21600" y="2755900"/>
            <a:ext cx="609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07600" y="3302000"/>
            <a:ext cx="0" cy="3429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331200" y="3670300"/>
            <a:ext cx="3352800" cy="11049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3600" y="3797300"/>
            <a:ext cx="3048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共通ツールと隔離環境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3600" y="4229100"/>
            <a:ext cx="3048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読取・変更・検査 / repo全体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30600" y="3670300"/>
            <a:ext cx="4191000" cy="11049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3000" y="3797300"/>
            <a:ext cx="3886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記録・成果物・完了判定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3000" y="4229100"/>
            <a:ext cx="38862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全入力＋出力 / 差分 / 版ID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7721600" y="4216400"/>
            <a:ext cx="609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626100" y="3302000"/>
            <a:ext cx="0" cy="3683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08000" y="3670300"/>
            <a:ext cx="2413000" cy="11049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400" y="3797300"/>
            <a:ext cx="2108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公開の検査結果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400" y="4229100"/>
            <a:ext cx="21082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実行中に利用できる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921000" y="4216400"/>
            <a:ext cx="609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714500" y="3479800"/>
            <a:ext cx="0" cy="190500"/>
          </a:xfrm>
          <a:prstGeom prst="line">
            <a:avLst/>
          </a:prstGeom>
          <a:ln w="22860">
            <a:solidFill>
              <a:srgbClr val="617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714500" y="3479800"/>
            <a:ext cx="2222500" cy="0"/>
          </a:xfrm>
          <a:prstGeom prst="line">
            <a:avLst/>
          </a:prstGeom>
          <a:ln w="22860">
            <a:solidFill>
              <a:srgbClr val="6170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937000" y="3302000"/>
            <a:ext cx="0" cy="1778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530600" y="5181600"/>
            <a:ext cx="4191000" cy="939800"/>
          </a:xfrm>
          <a:prstGeom prst="rect">
            <a:avLst/>
          </a:prstGeom>
          <a:solidFill>
            <a:srgbClr val="E8EEF6"/>
          </a:solidFill>
          <a:ln w="15240">
            <a:solidFill>
              <a:srgbClr val="17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83000" y="5308600"/>
            <a:ext cx="3886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最終成果物を凍結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83000" y="5740400"/>
            <a:ext cx="38862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停止時の1候補を提出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31200" y="5181600"/>
            <a:ext cx="3352800" cy="939800"/>
          </a:xfrm>
          <a:prstGeom prst="rect">
            <a:avLst/>
          </a:prstGeom>
          <a:solidFill>
            <a:srgbClr val="E8EEF6"/>
          </a:solidFill>
          <a:ln w="15240">
            <a:solidFill>
              <a:srgbClr val="17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3600" y="5308600"/>
            <a:ext cx="3048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独立した最終評価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3600" y="5740400"/>
            <a:ext cx="30480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追加テスト / 生成への返却なし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26100" y="4775200"/>
            <a:ext cx="0" cy="406400"/>
          </a:xfrm>
          <a:prstGeom prst="line">
            <a:avLst/>
          </a:prstGeom>
          <a:ln w="22860">
            <a:solidFill>
              <a:srgbClr val="17304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721600" y="5664200"/>
            <a:ext cx="609600" cy="0"/>
          </a:xfrm>
          <a:prstGeom prst="line">
            <a:avLst/>
          </a:prstGeom>
          <a:ln w="22860">
            <a:solidFill>
              <a:srgbClr val="17304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8000" y="5270500"/>
            <a:ext cx="2565400" cy="927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記録・差分は保存済み。</a:t>
            </a:r>
          </a:p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状態復元と分岐比較は</a:t>
            </a:r>
          </a:p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これから。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06 / 提案予定のアーキテクチャ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実行中の状態から、次の対応を選ぶハーネスへ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黄の部分は計画段階。自動再編の効果を示す実験はまだ行っていない。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S1・S7：研究仕様と四条件分岐タスク。モデル重みの融合ではない。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22500"/>
            <a:ext cx="3111500" cy="12827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2349500"/>
            <a:ext cx="28067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観測するもの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781300"/>
            <a:ext cx="28067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未完了作業・根拠・変更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検査・履歴・残り予算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6900" y="2222500"/>
            <a:ext cx="3302000" cy="1282700"/>
          </a:xfrm>
          <a:prstGeom prst="rect">
            <a:avLst/>
          </a:prstGeom>
          <a:solidFill>
            <a:srgbClr val="FBF1DF"/>
          </a:solidFill>
          <a:ln w="15240">
            <a:solidFill>
              <a:srgbClr val="B6792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9300" y="2349500"/>
            <a:ext cx="2997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対応を選ぶ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300" y="2781300"/>
            <a:ext cx="29972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続行／整理／中央調整／移管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96300" y="2222500"/>
            <a:ext cx="3187700" cy="1282700"/>
          </a:xfrm>
          <a:prstGeom prst="rect">
            <a:avLst/>
          </a:prstGeom>
          <a:solidFill>
            <a:srgbClr val="FBF1DF"/>
          </a:solidFill>
          <a:ln w="15240">
            <a:solidFill>
              <a:srgbClr val="B6792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8700" y="2349500"/>
            <a:ext cx="28829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状態を引き継ぐ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8700" y="2781300"/>
            <a:ext cx="288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作業・文脈・更新責任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移管費用も計上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19500" y="2844800"/>
            <a:ext cx="787400" cy="0"/>
          </a:xfrm>
          <a:prstGeom prst="line">
            <a:avLst/>
          </a:prstGeom>
          <a:ln w="22860">
            <a:solidFill>
              <a:srgbClr val="B6792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08900" y="2844800"/>
            <a:ext cx="787400" cy="0"/>
          </a:xfrm>
          <a:prstGeom prst="line">
            <a:avLst/>
          </a:prstGeom>
          <a:ln w="22860">
            <a:solidFill>
              <a:srgbClr val="B6792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406900" y="4102100"/>
            <a:ext cx="7277100" cy="13335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9300" y="4229100"/>
            <a:ext cx="69723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共通の実行・検証へ戻る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9300" y="4660900"/>
            <a:ext cx="69723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同じモデル、基本ツール、公開入力、全体予算を保つ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83800" y="3505200"/>
            <a:ext cx="0" cy="596900"/>
          </a:xfrm>
          <a:prstGeom prst="line">
            <a:avLst/>
          </a:prstGeom>
          <a:ln w="22860">
            <a:solidFill>
              <a:srgbClr val="B6792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2057400" y="4762500"/>
            <a:ext cx="23495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057400" y="3505200"/>
            <a:ext cx="0" cy="12573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8000" y="3987800"/>
            <a:ext cx="314960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観測 → 対応 → 再観測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FB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67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学習器は、状態によって有効な対応が変わり、単純規則では足りない場合に検討。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07 / 次に切り分けたい効果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情報を整理する効果と、実行単位を変える効果を分ける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同じ会話・ファイル・環境・成果物・残予算を保存して分岐する。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S7。四条件比較は設計段階。中央調整と移管が機能的に同じなら差分を主張しない。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97100"/>
            <a:ext cx="2209800" cy="6477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24100"/>
            <a:ext cx="19685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分岐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30500" y="2197100"/>
            <a:ext cx="4368800" cy="6477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7500" y="2324100"/>
            <a:ext cx="41275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変えるもの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2000" y="2197100"/>
            <a:ext cx="4559300" cy="6477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0" y="2324100"/>
            <a:ext cx="4318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保つもの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2857500"/>
            <a:ext cx="22098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2984500"/>
            <a:ext cx="19685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A 継続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30500" y="2857500"/>
            <a:ext cx="43688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7500" y="2984500"/>
            <a:ext cx="41275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変更なし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12000" y="2857500"/>
            <a:ext cx="45593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9000" y="2984500"/>
            <a:ext cx="4318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現在の担当・文脈・更新範囲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517900"/>
            <a:ext cx="22098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644900"/>
            <a:ext cx="19685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B 情報整理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30500" y="3517900"/>
            <a:ext cx="43688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57500" y="3644900"/>
            <a:ext cx="41275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必要根拠と現在状態を整理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12000" y="3517900"/>
            <a:ext cx="45593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9000" y="3644900"/>
            <a:ext cx="4318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担当・更新範囲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4178300"/>
            <a:ext cx="22098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" y="4305300"/>
            <a:ext cx="19685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C 中央調整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30500" y="4178300"/>
            <a:ext cx="43688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7500" y="4305300"/>
            <a:ext cx="41275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共同方針を決めて返す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12000" y="4178300"/>
            <a:ext cx="45593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9000" y="4305300"/>
            <a:ext cx="4318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元の担当が実行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4838700"/>
            <a:ext cx="22098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4965700"/>
            <a:ext cx="19685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D 作業移管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30500" y="4838700"/>
            <a:ext cx="43688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57500" y="4965700"/>
            <a:ext cx="41275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関連する判断と実行を集める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12000" y="4838700"/>
            <a:ext cx="45593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39000" y="4965700"/>
            <a:ext cx="4318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モデル・ツール・総予算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DがB・Cを超えた場合にだけ、実行単位を変える追加価値を検討する。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08 / 機材とモデル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大型モデルを1つ共有し、担当ごとの履歴を切り替える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実機の256GiBはメモリ。保存領域の容量とは別に測定した。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S9・S3：モデル選定、実機記録、P4の5秒間隔サンプル。GiB＝2^30バイト。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59000"/>
            <a:ext cx="2336800" cy="5842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286000"/>
            <a:ext cx="209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項目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0" y="2159000"/>
            <a:ext cx="8813800" cy="5842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4500" y="2286000"/>
            <a:ext cx="8572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採用中の開発条件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2755900"/>
            <a:ext cx="2336800" cy="58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2882900"/>
            <a:ext cx="209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Mac Studio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57500" y="2755900"/>
            <a:ext cx="8813800" cy="58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4500" y="2882900"/>
            <a:ext cx="8572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M3 Ultra / CPU 28 / メモリ 256GiB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3352800"/>
            <a:ext cx="2336800" cy="5842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479800"/>
            <a:ext cx="209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モデル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57500" y="3352800"/>
            <a:ext cx="8813800" cy="5842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84500" y="3479800"/>
            <a:ext cx="8572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MiniMax M3 IQ4_XS / 重み 213.91GiB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949700"/>
            <a:ext cx="2336800" cy="58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4076700"/>
            <a:ext cx="209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推論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57500" y="3949700"/>
            <a:ext cx="8813800" cy="58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84500" y="4076700"/>
            <a:ext cx="8572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llama.cpp b11669 / KV q8_0 / 入力枠 65,536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4546600"/>
            <a:ext cx="2336800" cy="5842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4673600"/>
            <a:ext cx="209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複数担当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7500" y="4546600"/>
            <a:ext cx="8813800" cy="5842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84500" y="4673600"/>
            <a:ext cx="8572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同じモデルへ逐次入力。重みを担当数倍にしない。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000" y="5143500"/>
            <a:ext cx="2336800" cy="58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" y="5270500"/>
            <a:ext cx="209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P4の実測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57500" y="5143500"/>
            <a:ext cx="8813800" cy="58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84500" y="5270500"/>
            <a:ext cx="8572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サーバーRSS最大約219.9GiB / 観測swap 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複数担当の検証は可能。ただし、この構成から物理並列の高速化は主張しない。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09 / 選定理由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モデルの大きさより、必要な入力長で測定できること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大型・非Flashという希望と、実際の容量・接続・実課題の結果を合わせた判断。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S9。未測定の候補を劣ると判断した表ではない。一般的な最強モデルの選定でもない。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59000"/>
            <a:ext cx="29083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286000"/>
            <a:ext cx="266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候補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159000"/>
            <a:ext cx="82423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6000" y="2286000"/>
            <a:ext cx="8001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確認結果・優先順位の理由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2730500"/>
            <a:ext cx="2908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2857500"/>
            <a:ext cx="266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M3 IQ4_XS + q8 KV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2730500"/>
            <a:ext cx="8242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6000" y="2857500"/>
            <a:ext cx="8001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64Kとツール往復が動作。P3/P4の共通モデルとして採用。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3302000"/>
            <a:ext cx="2908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429000"/>
            <a:ext cx="266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同じIQ4 + f16 KV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302000"/>
            <a:ext cx="8242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56000" y="3429000"/>
            <a:ext cx="8001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64KでMetalメモリ不足。失敗記録を保ち別設定に分離。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873500"/>
            <a:ext cx="2908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4000500"/>
            <a:ext cx="266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M3 Q3_K_L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29000" y="3873500"/>
            <a:ext cx="8242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56000" y="4000500"/>
            <a:ext cx="8001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動作済み。比較記録を保持。Q3対IQ4はKV条件も異なる。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4445000"/>
            <a:ext cx="2908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4572000"/>
            <a:ext cx="266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M3 Q4_K_M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4445000"/>
            <a:ext cx="8242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56000" y="4572000"/>
            <a:ext cx="8001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重みだけで約243GiB。長い入力と作業領域の余裕が小さい。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000" y="5016500"/>
            <a:ext cx="2908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" y="5143500"/>
            <a:ext cx="266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別系列・小型モデル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5016500"/>
            <a:ext cx="8242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56000" y="5143500"/>
            <a:ext cx="8001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比較候補として残す。今はハーネス条件を先に固定する。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91"/>
              </a:lnSpc>
              <a:spcBef>
                <a:spcPts val="0"/>
              </a:spcBef>
              <a:spcAft>
                <a:spcPts val="0"/>
              </a:spcAft>
            </a:pPr>
            <a:r>
              <a:rPr sz="166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本実験のモデルは未確定。2課題の成績や量子化名だけで一般的な優位は決めない。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10 / 実験の積み重ね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実行基盤の検証から、構成差の観察へ進んだ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条件が異なる段階を一つの成功率にまとめない。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S10・S2–S4。呼び出し数は実問題の当該試行のみ。校正・失敗した導入は別記録。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09800"/>
            <a:ext cx="17018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36800"/>
            <a:ext cx="1460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段階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22500" y="2209800"/>
            <a:ext cx="32258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49500" y="2336800"/>
            <a:ext cx="2984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目的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61000" y="2209800"/>
            <a:ext cx="29083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88000" y="2336800"/>
            <a:ext cx="266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実行規模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82000" y="2209800"/>
            <a:ext cx="32893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9000" y="2336800"/>
            <a:ext cx="3048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到達点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2781300"/>
            <a:ext cx="1701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2908300"/>
            <a:ext cx="1460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P0 / E0 / P1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22500" y="2781300"/>
            <a:ext cx="3225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49500" y="2908300"/>
            <a:ext cx="2984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接続・評価・単一基準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61000" y="2781300"/>
            <a:ext cx="2908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88000" y="2908300"/>
            <a:ext cx="266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P1：2モデル×2課題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82000" y="2781300"/>
            <a:ext cx="3289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9000" y="2908300"/>
            <a:ext cx="3048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公開／独立評価を分離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3352800"/>
            <a:ext cx="17018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3479800"/>
            <a:ext cx="1460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P2 Q3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22500" y="3352800"/>
            <a:ext cx="32258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49500" y="3479800"/>
            <a:ext cx="2984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大型モデルの実行適合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61000" y="3352800"/>
            <a:ext cx="2908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88000" y="3479800"/>
            <a:ext cx="266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2課題 / 53呼出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82000" y="3352800"/>
            <a:ext cx="3289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9000" y="3479800"/>
            <a:ext cx="3048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独立評価0/2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3924300"/>
            <a:ext cx="1701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4051300"/>
            <a:ext cx="1460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P2 IQ4/q8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22500" y="3924300"/>
            <a:ext cx="3225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49500" y="4051300"/>
            <a:ext cx="2984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容量と開発課題品質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61000" y="3924300"/>
            <a:ext cx="2908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88000" y="4051300"/>
            <a:ext cx="266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2課題 / 58呼出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82000" y="3924300"/>
            <a:ext cx="3289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9000" y="4051300"/>
            <a:ext cx="3048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独立評価1/2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8000" y="4495800"/>
            <a:ext cx="17018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000" y="4622800"/>
            <a:ext cx="1460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22500" y="4495800"/>
            <a:ext cx="32258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49500" y="4622800"/>
            <a:ext cx="2984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単一と固定2担当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61000" y="4495800"/>
            <a:ext cx="2908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88000" y="4622800"/>
            <a:ext cx="266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2課題×2方式 / 105呼出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82000" y="4495800"/>
            <a:ext cx="3289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9000" y="4622800"/>
            <a:ext cx="3048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両方式で同じ成否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8000" y="5067300"/>
            <a:ext cx="1701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000" y="5194300"/>
            <a:ext cx="1460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22500" y="5067300"/>
            <a:ext cx="32258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49500" y="5194300"/>
            <a:ext cx="2984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広い依存候補の単一観察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61000" y="5067300"/>
            <a:ext cx="2908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88000" y="5194300"/>
            <a:ext cx="266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Ansible 1課題 / 38呼出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82000" y="5067300"/>
            <a:ext cx="3289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9000" y="5194300"/>
            <a:ext cx="3048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未解決・修正差分なし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ここまでの成果は、方法の改善率ではなく、比較の基盤と失敗の観測記録。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11 / P3の設計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モデル・ツール・総予算をそろえ、工程分担を比べた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同じDjangoの開発2課題を、単一／固定2担当で各1回。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S2：P3固定計画・測定。両担当とも全作業ツリーを読取・変更できる。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35200"/>
            <a:ext cx="5461000" cy="297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235200"/>
            <a:ext cx="50800" cy="29718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438400"/>
            <a:ext cx="5003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単一エージェント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3225800"/>
            <a:ext cx="5003800" cy="180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1つの履歴で調査・実装・検査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外部ツールと全リポジトリを利用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完了判定と費用を共通管理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000" y="2235200"/>
            <a:ext cx="5461000" cy="2971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3000" y="2235200"/>
            <a:ext cx="50800" cy="2971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600" y="2438400"/>
            <a:ext cx="5003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固定2担当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600" y="3225800"/>
            <a:ext cx="5003800" cy="180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実装役と検証役の別履歴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交互に実行し、同じ作業ツリーを共有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排他的な責任の移管は行わない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共通上限：30呼び出し / 300,000入力＋出力 / 3,600秒 / 同じM3 IQ4/q8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12 / P3の結果①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総トークンは近いが、全件が予算停止だった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15380は両方式合格、15957は両方式未解決。各棒は1試行。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S2・P3_data.csv。バーは0起点。反復がないため誤差棒や有意差は示さない。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pic>
        <p:nvPicPr>
          <p:cNvPr id="9" name="Picture 8" descr="p3_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057400"/>
            <a:ext cx="11176000" cy="3530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67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少し少ない消費を「品質を保った費用削減」とは扱わない。完了宣言は全4件0回。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13 / P3の結果②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論理トークンが近くても、実時間は大きく違った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単一履歴と交互の2履歴で、キャッシュの利用条件も違う。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S2・P3_data.csv。一つの物理スロットで逐次実行。キャッシュは入力の内数。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pic>
        <p:nvPicPr>
          <p:cNvPr id="9" name="Picture 8" descr="p3_time_cach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082800"/>
            <a:ext cx="11176000" cy="3530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2担当が常に遅いとは言えない。物理構成とキャッシュを含む、この実行条件での観測。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14 / P3の考察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解けない原因を、分担や受け渡しのせいにしない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成果物と操作を調べ、次の研究へ使える観測か判断した。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S2：P3_findings.md。局所修正の成功を大規模・相互依存作業の実証にしない。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47900"/>
            <a:ext cx="2336800" cy="9652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74900"/>
            <a:ext cx="209550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課題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0" y="2247900"/>
            <a:ext cx="4394200" cy="9652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4500" y="2374900"/>
            <a:ext cx="415290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単一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4400" y="2247900"/>
            <a:ext cx="4406900" cy="9652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91400" y="2374900"/>
            <a:ext cx="416560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固定2担当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3225800"/>
            <a:ext cx="2336800" cy="9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352800"/>
            <a:ext cx="209550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15380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同時改名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7500" y="3225800"/>
            <a:ext cx="4394200" cy="9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84500" y="3352800"/>
            <a:ext cx="415290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機能修正 / 合格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857バイトの差分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4400" y="3225800"/>
            <a:ext cx="4406900" cy="9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1400" y="3352800"/>
            <a:ext cx="416560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機能修正＋テスト / 合格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2,678バイトの差分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4203700"/>
            <a:ext cx="2336800" cy="9652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4330700"/>
            <a:ext cx="209550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15957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prefetchの制限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57500" y="4203700"/>
            <a:ext cx="4394200" cy="9652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84500" y="4330700"/>
            <a:ext cx="415290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修正差分なし / 未解決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公開既存検査は合格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4400" y="4203700"/>
            <a:ext cx="4406900" cy="9652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91400" y="4330700"/>
            <a:ext cx="416560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再現テストのみ / 未解決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追加検査に3エラー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" y="5422900"/>
            <a:ext cx="1117600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両方式で機能修正に至らない失敗はある。</a:t>
            </a:r>
          </a:p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この結果だけでは、更新責任を集める必要性を特定できない。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15 / 主課題を選ぶ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正解の変更箇所を使わず、公開要求から候補を選ぶ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大きなリポジトリであることと、複数作業の依存が強いことは別。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S11：公開課題選定・Pro候補・基点コードの確認。すべて開発用の閲覧台帳に記録。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22500"/>
            <a:ext cx="35560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222500"/>
            <a:ext cx="50800" cy="32004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4257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最初の12候補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3213100"/>
            <a:ext cx="3098800" cy="20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6リポジトリ × 2件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公開要求を先に固定抽出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局所修正が中心だった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主課題の採用は保留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0" y="2222500"/>
            <a:ext cx="35560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8000" y="2222500"/>
            <a:ext cx="50800" cy="32004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6600" y="24257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Proの追加12候補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6600" y="3213100"/>
            <a:ext cx="3098800" cy="20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604候補から規則で抽出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3候補の21ファイル確認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メール復号・YAML等の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関係を公開コードで検討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0" y="2222500"/>
            <a:ext cx="3556000" cy="3200400"/>
          </a:xfrm>
          <a:prstGeom prst="rect">
            <a:avLst/>
          </a:prstGeom>
          <a:solidFill>
            <a:srgbClr val="FB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0" y="2222500"/>
            <a:ext cx="50800" cy="3200400"/>
          </a:xfrm>
          <a:prstGeom prst="rect">
            <a:avLst/>
          </a:prstGeom>
          <a:solidFill>
            <a:srgbClr val="B6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6600" y="24257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Ansibleを先に導入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600" y="3213100"/>
            <a:ext cx="3098800" cy="20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YAML・信頼情報・vault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の条件を扱う実行候補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固定基点と評価器を確認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正式な主課題採用は未定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小課題を不自然に分割して、集約が必要な状況を作らない。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16 / 評価器の確認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未修正は落ち、参照修正は通ることを先に確かめた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モデルの失敗と、評価基盤の失敗を区別するための正負対照。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S12・S3：PRO_ENV_05 / P4独立評価。参照修正・追加テストの内容は生成側へ渡さない。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35200"/>
            <a:ext cx="3797300" cy="7366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62200"/>
            <a:ext cx="35560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投入した成果物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8000" y="2235200"/>
            <a:ext cx="3670300" cy="7366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5000" y="2362200"/>
            <a:ext cx="34290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要求を確認する4テスト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2235200"/>
            <a:ext cx="3670300" cy="7366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0" y="2362200"/>
            <a:ext cx="34290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既存動作の21テスト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2984500"/>
            <a:ext cx="3797300" cy="7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111500"/>
            <a:ext cx="35560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空の差分（負対照）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8000" y="2984500"/>
            <a:ext cx="3670300" cy="7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5000" y="3111500"/>
            <a:ext cx="34290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0合格 / 4不合格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984500"/>
            <a:ext cx="3670300" cy="7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8000" y="3111500"/>
            <a:ext cx="34290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21合格 / 0不合格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733800"/>
            <a:ext cx="3797300" cy="7366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860800"/>
            <a:ext cx="35560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参照修正（正対照）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8000" y="3733800"/>
            <a:ext cx="3670300" cy="7366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5000" y="3860800"/>
            <a:ext cx="34290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4合格 / 0不合格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3733800"/>
            <a:ext cx="3670300" cy="7366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000" y="3860800"/>
            <a:ext cx="34290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21合格 / 0不合格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4483100"/>
            <a:ext cx="3797300" cy="7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" y="4610100"/>
            <a:ext cx="35560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P4の凍結成果物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18000" y="4483100"/>
            <a:ext cx="3670300" cy="7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45000" y="4610100"/>
            <a:ext cx="34290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0合格 / 4不合格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4483100"/>
            <a:ext cx="3670300" cy="73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8000" y="4610100"/>
            <a:ext cx="3429000" cy="571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21合格 / 0不合格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000" y="5397500"/>
            <a:ext cx="11176000" cy="825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導入時の3失敗と、終了コード1を基盤エラーにした誤判定も保存。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残した出力から訂正し、元の結果は上書きしなかった。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17 / P4の設計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YAML処理の複数の条件を、単一方式でまず観察する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Ansible 1開発課題・1試行。P3から課題と上限が変わるため、直接の手法比較にはしない。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S3・S4。下図は公開要求に登場する関係で、実証済みの因果グラフではない。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60600"/>
            <a:ext cx="3225800" cy="14351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2387600"/>
            <a:ext cx="2921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YAMLの入口・出口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819400"/>
            <a:ext cx="292100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from_yaml / from_yaml_all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to_yaml / to_nice_yaml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3100" y="2260600"/>
            <a:ext cx="3225800" cy="14351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5500" y="2387600"/>
            <a:ext cx="2921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保持すべき情報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5500" y="2819400"/>
            <a:ext cx="292100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信頼情報・由来情報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文字列・コンテナ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58200" y="2260600"/>
            <a:ext cx="3225800" cy="14351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0600" y="2387600"/>
            <a:ext cx="29210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暗号化とテンプレート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0600" y="2819400"/>
            <a:ext cx="2921000" cy="800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vaultの出力条件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未定義値等の扱い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733800" y="2959100"/>
            <a:ext cx="7493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08900" y="2959100"/>
            <a:ext cx="7493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08000" y="4152900"/>
            <a:ext cx="11176000" cy="12954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0" y="4343400"/>
            <a:ext cx="10668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上限 60呼び出し / 600,000トークン / 3,600秒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940300"/>
            <a:ext cx="106680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公開要求3項目をすべて入力。19ソースと条件を実行前に固定。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情報が不足した設定にせず、公開要求を保ったまま挙動を測る。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18 / P4の経過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調査から再現確認へ進んだが、修正には届かなかった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最初の再現確認より前に404,067トークンを使用。修正成果物は最後まで0バイト。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S3・S4・P4_timeline.csv。一時領域の再現スクリプトは操作記録に保存。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pic>
        <p:nvPicPr>
          <p:cNvPr id="9" name="Picture 8" descr="p4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108200"/>
            <a:ext cx="11176000" cy="3505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読む作業を一律に無駄とは判定しない。調査から変更へ移る条件は、次の検証候補。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19 / P4の結果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入力の繰り返しが総トークンの大半を占めた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実行 448.53秒 / 38呼び出し / 586,166総トークン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S3。キャッシュ対象559,572は入力583,040の内数。課金額や実計算量とは別の指標。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pic>
        <p:nvPicPr>
          <p:cNvPr id="9" name="Picture 8" descr="p4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146300"/>
            <a:ext cx="11176000" cy="20447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8000" y="4343400"/>
            <a:ext cx="27813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000" y="4470400"/>
            <a:ext cx="2540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入力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02000" y="4343400"/>
            <a:ext cx="27813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4470400"/>
            <a:ext cx="2540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出力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0" y="4343400"/>
            <a:ext cx="27813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3000" y="4470400"/>
            <a:ext cx="2540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最終成果物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90000" y="4343400"/>
            <a:ext cx="27813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7000" y="4470400"/>
            <a:ext cx="2540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独立評価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000" y="4914900"/>
            <a:ext cx="2781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5041900"/>
            <a:ext cx="2540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583,040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02000" y="4914900"/>
            <a:ext cx="2781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5041900"/>
            <a:ext cx="2540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3,126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4914900"/>
            <a:ext cx="2781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3000" y="5041900"/>
            <a:ext cx="2540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0バイト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90000" y="4914900"/>
            <a:ext cx="2781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7000" y="5041900"/>
            <a:ext cx="2540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未解決：要求0/4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公開既存131件の合格、再現スクリプトの終了0だけでは要求を満たしたとは言えない。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20 / 解釈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分かったことと、原因として未確認のこと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失敗も費用へ含め、実装の問題と研究仮説を混ぜない。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S2–S4。内部推論文から原因を断定する分析は行っていない。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22500"/>
            <a:ext cx="5461000" cy="322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222500"/>
            <a:ext cx="50800" cy="32258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425700"/>
            <a:ext cx="5003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観測できたこと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3213100"/>
            <a:ext cx="500380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同じモデルで両構成を測れる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公開検査と独立評価が食い違う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P4は予算停止で機能修正なし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計測欠損・形式エラーはなかった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3000" y="2222500"/>
            <a:ext cx="5461000" cy="3225800"/>
          </a:xfrm>
          <a:prstGeom prst="rect">
            <a:avLst/>
          </a:prstGeom>
          <a:solidFill>
            <a:srgbClr val="FB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23000" y="2222500"/>
            <a:ext cx="50800" cy="3225800"/>
          </a:xfrm>
          <a:prstGeom prst="rect">
            <a:avLst/>
          </a:prstGeom>
          <a:solidFill>
            <a:srgbClr val="B6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600" y="2425700"/>
            <a:ext cx="5003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これから切り分けること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600" y="3213100"/>
            <a:ext cx="500380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基準方式の調査・停止方針の影響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本当に必要な作業間の調整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情報整理だけで改善できる範囲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実行単位変更の固有の追加価値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単一の失敗を、複数担当や集約の必要性の証拠へ読み替えない。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21 / 先行研究と新規性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「動的に担当を変える」だけでは、既に研究がある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本文と固定コードを照合中。完全再現と新規性の確定は未完了。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L1–L4・S13。各研究の原理の要約であり、同条件の性能比較ではない。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71700"/>
            <a:ext cx="3111500" cy="6477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298700"/>
            <a:ext cx="2870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6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近接研究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32200" y="2171700"/>
            <a:ext cx="3771900" cy="6477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59200" y="2298700"/>
            <a:ext cx="35306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6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既に扱われていること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16800" y="2171700"/>
            <a:ext cx="4254500" cy="6477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2298700"/>
            <a:ext cx="401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6"/>
              </a:lnSpc>
              <a:spcBef>
                <a:spcPts val="0"/>
              </a:spcBef>
              <a:spcAft>
                <a:spcPts val="0"/>
              </a:spcAft>
            </a:pPr>
            <a:r>
              <a:rPr sz="152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今回さらに検証したいこと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2832100"/>
            <a:ext cx="31115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2959100"/>
            <a:ext cx="2870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MaAS / ICML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32200" y="2832100"/>
            <a:ext cx="37719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59200" y="2959100"/>
            <a:ext cx="35306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課題に応じた構成・費用配分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16800" y="2832100"/>
            <a:ext cx="42545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2959100"/>
            <a:ext cx="401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全工程の品質条件と費用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492500"/>
            <a:ext cx="31115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619500"/>
            <a:ext cx="2870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TDAG / NN 2025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2200" y="3492500"/>
            <a:ext cx="37719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59200" y="3619500"/>
            <a:ext cx="35306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動的な分解・担当生成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16800" y="3492500"/>
            <a:ext cx="42545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3619500"/>
            <a:ext cx="401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進行した作業状態の移管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4152900"/>
            <a:ext cx="31115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" y="4279900"/>
            <a:ext cx="2870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Flow / ICLR 2025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32200" y="4152900"/>
            <a:ext cx="37719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59200" y="4279900"/>
            <a:ext cx="35306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実行中の作業・担当更新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16800" y="4152900"/>
            <a:ext cx="4254500" cy="64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0" y="4279900"/>
            <a:ext cx="401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共有・中央調整を超える効果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4813300"/>
            <a:ext cx="31115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4940300"/>
            <a:ext cx="2870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Puppeteer / NeurIPS 2025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32200" y="4813300"/>
            <a:ext cx="37719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59200" y="4940300"/>
            <a:ext cx="35306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状態に応じた担当選択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16800" y="4813300"/>
            <a:ext cx="4254500" cy="6477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3800" y="4940300"/>
            <a:ext cx="401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移管の利益と費用を含む比較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狙うのは有効条件と機構の説明。再編・分岐実験・利益予測そのものを世界初としない。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22 / 次の検証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分担の観察 → 同一状態の対照 → 必要なら自動選択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前段で現象が残らなければ、次の複雑な機能へ進まない。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S1・S5・S7。後続の具体的な試行条件は、開始前に別計画として固定する。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84400"/>
            <a:ext cx="1003300" cy="6985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11400"/>
            <a:ext cx="7620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順序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4000" y="2184400"/>
            <a:ext cx="5067300" cy="6985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51000" y="2311400"/>
            <a:ext cx="48260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行うこと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04000" y="2184400"/>
            <a:ext cx="5067300" cy="6985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1000" y="2311400"/>
            <a:ext cx="48260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進める条件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2895600"/>
            <a:ext cx="1003300" cy="69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022600"/>
            <a:ext cx="7620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24000" y="2895600"/>
            <a:ext cx="5067300" cy="69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51000" y="3022600"/>
            <a:ext cx="48260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同条件の工程分担・強い基準の点検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4000" y="2895600"/>
            <a:ext cx="5067300" cy="69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1000" y="3022600"/>
            <a:ext cx="48260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観測可能な調整・状態不整合がある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606800"/>
            <a:ext cx="1003300" cy="6985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733800"/>
            <a:ext cx="7620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24000" y="3606800"/>
            <a:ext cx="5067300" cy="6985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51000" y="3733800"/>
            <a:ext cx="48260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同一状態から継続／整理／調整／移管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04000" y="3606800"/>
            <a:ext cx="5067300" cy="6985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1000" y="3733800"/>
            <a:ext cx="48260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復元と予算の比較が成立する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4318000"/>
            <a:ext cx="1003300" cy="69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" y="4445000"/>
            <a:ext cx="7620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24000" y="4318000"/>
            <a:ext cx="5067300" cy="69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51000" y="4445000"/>
            <a:ext cx="48260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単純規則と利益予測を比べる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04000" y="4318000"/>
            <a:ext cx="5067300" cy="69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31000" y="4445000"/>
            <a:ext cx="48260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局面により有効な対応が変わる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5029200"/>
            <a:ext cx="1003300" cy="6985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5156200"/>
            <a:ext cx="7620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24000" y="5029200"/>
            <a:ext cx="5067300" cy="6985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51000" y="5156200"/>
            <a:ext cx="48260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未使用課題・別モデルで確認する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04000" y="5029200"/>
            <a:ext cx="5067300" cy="6985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31000" y="5156200"/>
            <a:ext cx="48260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品質条件・主要指標・必要件数を固定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67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並行して決める：主課題、依存の分類、品質許容差、必要件数、最も近い比較実装。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23 / 研究期限まで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2027年夏の初回投稿を目標に、段階ごとに判断する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12月は修論・成果物の完成期限。採録時期は査読に依存する。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S1・S5：研究の現方針を基にした予定。結果により手法と件数を見直す。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84400"/>
            <a:ext cx="26543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11400"/>
            <a:ext cx="2413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時期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5000" y="2184400"/>
            <a:ext cx="44323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02000" y="2311400"/>
            <a:ext cx="4191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重点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0" y="2184400"/>
            <a:ext cx="4051300" cy="558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7000" y="2311400"/>
            <a:ext cx="3810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残す成果物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2755900"/>
            <a:ext cx="2654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2882900"/>
            <a:ext cx="2413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2026年10–12月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75000" y="2755900"/>
            <a:ext cx="4432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02000" y="2882900"/>
            <a:ext cx="4191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主課題・基準方式・現象の確認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0" y="2755900"/>
            <a:ext cx="4051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7000" y="2882900"/>
            <a:ext cx="3810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選定理由、条件、失敗分析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327400"/>
            <a:ext cx="2654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454400"/>
            <a:ext cx="2413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2027年1–4月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75000" y="3327400"/>
            <a:ext cx="4432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02000" y="3454400"/>
            <a:ext cx="4191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同一状態の比較・機構の分析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20000" y="3327400"/>
            <a:ext cx="4051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47000" y="3454400"/>
            <a:ext cx="3810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分岐データ、効果と費用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3898900"/>
            <a:ext cx="2654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" y="4025900"/>
            <a:ext cx="2413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2027年5–6月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75000" y="3898900"/>
            <a:ext cx="4432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02000" y="4025900"/>
            <a:ext cx="4191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確認評価と論文の主張を固定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20000" y="3898900"/>
            <a:ext cx="4051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47000" y="4025900"/>
            <a:ext cx="3810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主要図表、限界、再現手順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4470400"/>
            <a:ext cx="2654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4597400"/>
            <a:ext cx="2413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2027年7–8月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75000" y="4470400"/>
            <a:ext cx="4432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02000" y="4597400"/>
            <a:ext cx="4191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執筆・初回投稿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0000" y="4470400"/>
            <a:ext cx="4051300" cy="558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47000" y="4597400"/>
            <a:ext cx="3810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IEICE論文誌を主候補に原稿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5041900"/>
            <a:ext cx="2654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000" y="5168900"/>
            <a:ext cx="2413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2027年9–12月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75000" y="5041900"/>
            <a:ext cx="4432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02000" y="5168900"/>
            <a:ext cx="4191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追加検証・査読対応・修論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20000" y="5041900"/>
            <a:ext cx="4051300" cy="55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47000" y="5168900"/>
            <a:ext cx="3810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コード、設定、最終発表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38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再編が効かない場合も記録する。ただし、否定結果だけで論文化できるとは保証しない。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24 / 何を目指すか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どの状態に、どの構成が必要かを説明できる研究へ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到達目標は、平均スコアの上昇だけではない。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研究コード・記録・Issue・PR・専用Project：sophiria1225/AI-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47900"/>
            <a:ext cx="35560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247900"/>
            <a:ext cx="50800" cy="32004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4511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学術的な成果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3238500"/>
            <a:ext cx="3098800" cy="20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情報整理で十分な条件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中央調整が有効な条件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移管が役立つ／害になる条件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品質と費用の根拠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0" y="2247900"/>
            <a:ext cx="35560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8000" y="2247900"/>
            <a:ext cx="50800" cy="32004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6600" y="24511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技術的な成果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6600" y="3238500"/>
            <a:ext cx="3098800" cy="20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状態を扱う共通ハーネス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同じ途中状態の比較基盤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費用を含む選択規則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再実行できる記録と設定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0" y="2247900"/>
            <a:ext cx="3556000" cy="3200400"/>
          </a:xfrm>
          <a:prstGeom prst="rect">
            <a:avLst/>
          </a:prstGeom>
          <a:solidFill>
            <a:srgbClr val="FB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0" y="2247900"/>
            <a:ext cx="50800" cy="3200400"/>
          </a:xfrm>
          <a:prstGeom prst="rect">
            <a:avLst/>
          </a:prstGeom>
          <a:solidFill>
            <a:srgbClr val="B67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6600" y="24511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現在の課題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600" y="3238500"/>
            <a:ext cx="3098800" cy="203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強い基準でも残る現象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近接研究との差分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主課題と確認評価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一般化できる範囲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「誰に何を渡し、どこで判断・実行をまとめるか」を、実測に基づいて決める。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付録 A / 正確な実測値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P3の4試行を比較するためのデータ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下記は開発観察。入力キャッシュは全入力の内数で、費用から差し引かない。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S2・materials/20261020/P3_data.csv。完全な集計はreports/に保存。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60600"/>
            <a:ext cx="2184400" cy="6731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87600"/>
            <a:ext cx="1943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課題・方式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5100" y="2260600"/>
            <a:ext cx="749300" cy="6731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2100" y="2387600"/>
            <a:ext cx="508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呼出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67100" y="2260600"/>
            <a:ext cx="1803400" cy="6731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4100" y="2387600"/>
            <a:ext cx="1562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入力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83200" y="2260600"/>
            <a:ext cx="1333500" cy="6731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0200" y="2387600"/>
            <a:ext cx="1092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出力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2260600"/>
            <a:ext cx="1803400" cy="6731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56400" y="2387600"/>
            <a:ext cx="1562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合計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45500" y="2260600"/>
            <a:ext cx="1803400" cy="6731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2500" y="2387600"/>
            <a:ext cx="1562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61600" y="2260600"/>
            <a:ext cx="1409700" cy="6731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88600" y="2387600"/>
            <a:ext cx="11684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評価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000" y="2946400"/>
            <a:ext cx="21844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0" y="3073400"/>
            <a:ext cx="1943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15380 単一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05100" y="2946400"/>
            <a:ext cx="7493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2100" y="3073400"/>
            <a:ext cx="508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67100" y="2946400"/>
            <a:ext cx="18034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94100" y="3073400"/>
            <a:ext cx="1562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277,892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83200" y="2946400"/>
            <a:ext cx="13335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0200" y="3073400"/>
            <a:ext cx="1092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5,284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2946400"/>
            <a:ext cx="18034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56400" y="3073400"/>
            <a:ext cx="1562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283,176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45500" y="2946400"/>
            <a:ext cx="18034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72500" y="3073400"/>
            <a:ext cx="1562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469.70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61600" y="2946400"/>
            <a:ext cx="14097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88600" y="3073400"/>
            <a:ext cx="11684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合格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8000" y="3632200"/>
            <a:ext cx="2184400" cy="6731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000" y="3759200"/>
            <a:ext cx="1943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15380 2担当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05100" y="3632200"/>
            <a:ext cx="749300" cy="6731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2100" y="3759200"/>
            <a:ext cx="508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67100" y="3632200"/>
            <a:ext cx="1803400" cy="6731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94100" y="3759200"/>
            <a:ext cx="1562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269,358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3200" y="3632200"/>
            <a:ext cx="1333500" cy="6731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10200" y="3759200"/>
            <a:ext cx="1092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5,650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0" y="3632200"/>
            <a:ext cx="1803400" cy="6731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56400" y="3759200"/>
            <a:ext cx="1562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275,008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45500" y="3632200"/>
            <a:ext cx="1803400" cy="6731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72500" y="3759200"/>
            <a:ext cx="1562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2274.54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61600" y="3632200"/>
            <a:ext cx="1409700" cy="6731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88600" y="3759200"/>
            <a:ext cx="11684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合格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8000" y="4318000"/>
            <a:ext cx="21844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000" y="4445000"/>
            <a:ext cx="1943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15957 単一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05100" y="4318000"/>
            <a:ext cx="7493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832100" y="4445000"/>
            <a:ext cx="508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67100" y="4318000"/>
            <a:ext cx="18034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94100" y="4445000"/>
            <a:ext cx="1562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274,364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83200" y="4318000"/>
            <a:ext cx="13335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10200" y="4445000"/>
            <a:ext cx="1092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5,802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29400" y="4318000"/>
            <a:ext cx="18034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56400" y="4445000"/>
            <a:ext cx="1562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280,166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45500" y="4318000"/>
            <a:ext cx="18034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72500" y="4445000"/>
            <a:ext cx="1562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506.82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261600" y="4318000"/>
            <a:ext cx="1409700" cy="67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88600" y="4445000"/>
            <a:ext cx="11684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未解決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8000" y="5003800"/>
            <a:ext cx="2184400" cy="6731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000" y="5130800"/>
            <a:ext cx="1943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15957 2担当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05100" y="5003800"/>
            <a:ext cx="749300" cy="6731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832100" y="5130800"/>
            <a:ext cx="5080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67100" y="5003800"/>
            <a:ext cx="1803400" cy="6731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94100" y="5130800"/>
            <a:ext cx="1562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270,474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83200" y="5003800"/>
            <a:ext cx="1333500" cy="6731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10200" y="5130800"/>
            <a:ext cx="10922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5,057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29400" y="5003800"/>
            <a:ext cx="1803400" cy="6731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56400" y="5130800"/>
            <a:ext cx="1562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275,531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45500" y="5003800"/>
            <a:ext cx="1803400" cy="6731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72500" y="5130800"/>
            <a:ext cx="15621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2324.12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261600" y="5003800"/>
            <a:ext cx="1409700" cy="6731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388600" y="5130800"/>
            <a:ext cx="1168400" cy="50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未解決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全4試行が予算停止。合計105呼び出し・1,113,881トークン。独立な課題数は2。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付録 B / 再現性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固定したものと、原記録のたどり方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公開可能な集計・コードと、実験機上に保持するデータを区別する。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S6・S14。下記は短縮表記。完全なSHA-256・コミットは設定とdata_sources.jsonへ。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20900"/>
            <a:ext cx="2844800" cy="469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247900"/>
            <a:ext cx="260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対象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5500" y="2120900"/>
            <a:ext cx="8305800" cy="4699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2500" y="2247900"/>
            <a:ext cx="806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固定版／記録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2603500"/>
            <a:ext cx="2844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2730500"/>
            <a:ext cx="260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推論基盤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5500" y="2603500"/>
            <a:ext cx="8305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2500" y="2730500"/>
            <a:ext cx="806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llama.cpp 620d2225… / mini-swe-agent 04d809ce…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3086100"/>
            <a:ext cx="2844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213100"/>
            <a:ext cx="260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P3計画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65500" y="3086100"/>
            <a:ext cx="8305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2500" y="3213100"/>
            <a:ext cx="806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configs/P3_development_plan_v01.json / ce33553f…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568700"/>
            <a:ext cx="2844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695700"/>
            <a:ext cx="260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P4計画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65500" y="3568700"/>
            <a:ext cx="8305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92500" y="3695700"/>
            <a:ext cx="806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configs/P4_pro_single_plan_v01.json / 64701ea1…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4051300"/>
            <a:ext cx="2844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4178300"/>
            <a:ext cx="260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Proデータ・実行環境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65500" y="4051300"/>
            <a:ext cx="8305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2500" y="4178300"/>
            <a:ext cx="806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HF 2d52cb3d… / V2 image sha256:2ee62346…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000" y="4533900"/>
            <a:ext cx="2844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" y="4660900"/>
            <a:ext cx="260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公開するもの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65500" y="4533900"/>
            <a:ext cx="8305800" cy="469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92500" y="4660900"/>
            <a:ext cx="806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集計・理由・設定・図表CSV・資料生成コード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5016500"/>
            <a:ext cx="2844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5143500"/>
            <a:ext cx="2603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ローカルに保持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65500" y="5016500"/>
            <a:ext cx="8305800" cy="4699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92500" y="5143500"/>
            <a:ext cx="8064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モデル重み・完全な履歴・独立評価の追加テスト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000" y="5664200"/>
            <a:ext cx="11176000" cy="546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GitHubの変更先はAI-のみ。Issueと専用Projectに状態を継続記録する。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付録 C / 記録へのリンク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数値・図表・判断の出典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資料の数値は記録済みの集計から生成。詳細は各リンクと発表者ノートへ。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リンクはGitHub上の記録。資料作成時点の元データSHAはdata_sources.jsonに保存。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209800"/>
            <a:ext cx="1333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8500" y="2209800"/>
            <a:ext cx="95250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  <a:hlinkClick r:id="rId2"/>
              </a:rPr>
              <a:t>研究の目的・評価の基準 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743200"/>
            <a:ext cx="1333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8500" y="2743200"/>
            <a:ext cx="95250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  <a:hlinkClick r:id="rId3"/>
              </a:rPr>
              <a:t>P3比較の実測と考察  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276600"/>
            <a:ext cx="1333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S3–S4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8500" y="3276600"/>
            <a:ext cx="95250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  <a:hlinkClick r:id="rId4"/>
              </a:rPr>
              <a:t>P4実測・公開操作の分析  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3810000"/>
            <a:ext cx="1333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S5–S7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8500" y="3810000"/>
            <a:ext cx="95250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  <a:hlinkClick r:id="rId5"/>
              </a:rPr>
              <a:t>作業ボード・実装・分岐計画  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4343400"/>
            <a:ext cx="1333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S8–S10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8500" y="4343400"/>
            <a:ext cx="95250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  <a:hlinkClick r:id="rId6"/>
              </a:rPr>
              <a:t>品質条件・モデル選定・以前の実測  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4876800"/>
            <a:ext cx="1333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S11–S12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8500" y="4876800"/>
            <a:ext cx="95250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  <a:hlinkClick r:id="rId7"/>
              </a:rPr>
              <a:t>主課題選定と評価器の校正  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000" y="5410200"/>
            <a:ext cx="1333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S13–S14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8500" y="5410200"/>
            <a:ext cx="95250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  <a:hlinkClick r:id="rId8"/>
              </a:rPr>
              <a:t>先行研究比較と固定計画  ↗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付録 D / 近接研究の原典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新規性の確認に使っている主な文献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下記の正式掲載研究と著者実装を比較。方法全体の再現はまだ行っていない。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本文・実装の確認範囲と未確認事項はdocs/related_work_matrix.mdに記録。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159000"/>
            <a:ext cx="571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0000" y="2159000"/>
            <a:ext cx="102870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  <a:hlinkClick r:id="rId2"/>
              </a:rPr>
              <a:t>MaAS: Multi-agent Architecture Search via Agentic Supernet 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00" y="2578100"/>
            <a:ext cx="1028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ICML 2025 / PMLR 267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124200"/>
            <a:ext cx="571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0000" y="3124200"/>
            <a:ext cx="102870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  <a:hlinkClick r:id="rId3"/>
              </a:rPr>
              <a:t>TDAG: Dynamic Task Decomposition and Agent Generation 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0000" y="3543300"/>
            <a:ext cx="1028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Neural Networks 185, 107200 (2025)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4089400"/>
            <a:ext cx="571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L3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0000" y="4089400"/>
            <a:ext cx="102870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  <a:hlinkClick r:id="rId4"/>
              </a:rPr>
              <a:t>Flow: Modularized Agentic Workflow Automation 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0000" y="4508500"/>
            <a:ext cx="1028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ICLR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5054600"/>
            <a:ext cx="571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L4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0000" y="5054600"/>
            <a:ext cx="10287000" cy="431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  <a:hlinkClick r:id="rId5"/>
              </a:rPr>
              <a:t>Multi-Agent Collaboration via Evolving Orchestration 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0000" y="5473700"/>
            <a:ext cx="10287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NeurIPS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AIハーネス研究 中間報告 2026-10-20</dc:title>
  <dc:subject>目的・アーキテクチャ・実験・考察・今後の検証</dc:subject>
  <dc:creator>AIハーネス研究</dc:creator>
  <cp:keywords>開発観察;総トークン;オーケストレーション;未検証の仮説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